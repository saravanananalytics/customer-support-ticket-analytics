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Bold"/>
      <p:regular r:id="rId201315"/>
    </p:embeddedFont>
    <p:embeddedFont>
      <p:font typeface="Source Serif 4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109788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Support Ticket Root Cause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582293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Identifying persistent issues vs. rapidly emerging problems — a data-driven approach to customer operations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445000"/>
            <a:ext cx="1816253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5389626" y="4504829"/>
            <a:ext cx="218652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OPERATIONS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85937" y="4445000"/>
            <a:ext cx="1685288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05591" y="4504829"/>
            <a:ext cx="205556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ROOT CAUSE ANALYSIS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70937" y="4445000"/>
            <a:ext cx="1847705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90591" y="4504829"/>
            <a:ext cx="221798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· SQL · PYTHON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68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6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Business Challenge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854101"/>
            <a:ext cx="6868048" cy="3891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8319" y="1443633"/>
            <a:ext cx="35016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Leadership Needs to Know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8319" y="1872059"/>
            <a:ext cx="3501640" cy="13200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68088" y="2065635"/>
            <a:ext cx="303830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Persistent Issues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268088" y="2475012"/>
            <a:ext cx="303830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High-volume, stable categories — chronic pain points demanding structural fixes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8319" y="3344763"/>
            <a:ext cx="3501640" cy="13200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68088" y="3538339"/>
            <a:ext cx="303830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Emerging Problems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268088" y="3947716"/>
            <a:ext cx="303830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Low-volume but fast-growing categories — early warning signals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8319" y="4817467"/>
            <a:ext cx="3501640" cy="13200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68088" y="5011043"/>
            <a:ext cx="303830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Operational Impact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268088" y="5420420"/>
            <a:ext cx="303830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Resolution time, SLA breaches, and satisfaction scores by category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456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Cleaning: 9-Step Foundation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5020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data before analysis — every metric depends on it.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2193727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8086" y="2507357"/>
            <a:ext cx="346552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2657872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Validate Ticket ID uniqueness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63035" y="2193727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507357"/>
            <a:ext cx="346552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9" name="Text 7"/>
          <p:cNvSpPr/>
          <p:nvPr/>
        </p:nvSpPr>
        <p:spPr>
          <a:xfrm>
            <a:off x="4363035" y="2657872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Convert dates to datetime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27985" y="2193727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2507357"/>
            <a:ext cx="346562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2" name="Text 10"/>
          <p:cNvSpPr/>
          <p:nvPr/>
        </p:nvSpPr>
        <p:spPr>
          <a:xfrm>
            <a:off x="8027985" y="2657872"/>
            <a:ext cx="346562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Standardize type, status, priority, channel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8086" y="3593405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98086" y="3907036"/>
            <a:ext cx="346552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5" name="Text 13"/>
          <p:cNvSpPr/>
          <p:nvPr/>
        </p:nvSpPr>
        <p:spPr>
          <a:xfrm>
            <a:off x="698086" y="4057551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Inspect missing values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63035" y="3593405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05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3035" y="3907036"/>
            <a:ext cx="346552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8" name="Text 16"/>
          <p:cNvSpPr/>
          <p:nvPr/>
        </p:nvSpPr>
        <p:spPr>
          <a:xfrm>
            <a:off x="4363035" y="4057551"/>
            <a:ext cx="346552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Convert resolution time to numeric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27985" y="3593405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27985" y="3907036"/>
            <a:ext cx="346562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1" name="Text 19"/>
          <p:cNvSpPr/>
          <p:nvPr/>
        </p:nvSpPr>
        <p:spPr>
          <a:xfrm>
            <a:off x="8027985" y="4057551"/>
            <a:ext cx="34656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Check impossible durations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8086" y="499308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07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98086" y="5306715"/>
            <a:ext cx="346552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4" name="Text 22"/>
          <p:cNvSpPr/>
          <p:nvPr/>
        </p:nvSpPr>
        <p:spPr>
          <a:xfrm>
            <a:off x="698086" y="5457230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Create month/week fields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63035" y="499308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08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4363035" y="5306715"/>
            <a:ext cx="346552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7" name="Text 25"/>
          <p:cNvSpPr/>
          <p:nvPr/>
        </p:nvSpPr>
        <p:spPr>
          <a:xfrm>
            <a:off x="4363035" y="5457230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Create SLA flag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27985" y="499308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09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027985" y="5306715"/>
            <a:ext cx="346562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30" name="Text 28"/>
          <p:cNvSpPr/>
          <p:nvPr/>
        </p:nvSpPr>
        <p:spPr>
          <a:xfrm>
            <a:off x="8027985" y="5457230"/>
            <a:ext cx="346562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Separate open/pending from resolved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6440"/>
            <a:ext cx="10795524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-61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SQL Analysis: Volume &amp; Status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394222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Products by Ticket Volume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790998"/>
            <a:ext cx="5196254" cy="37403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3706" y="1394222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Ticket Status Distribution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706" y="1790998"/>
            <a:ext cx="5196254" cy="37403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3706" y="5685234"/>
            <a:ext cx="519625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Products A &amp; B drive the highest volume. ~34% of tickets remain unresolved — a key operational risk.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9197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spc="-5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Priority Levels &amp; Resolution Time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343323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Tickets by Priority Level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719560"/>
            <a:ext cx="5203893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6066" y="1343323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Avg Resolution Hours by Priority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066" y="1719560"/>
            <a:ext cx="5203893" cy="37458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8086" y="5750322"/>
            <a:ext cx="10795524" cy="548382"/>
          </a:xfrm>
          <a:prstGeom prst="roundRect">
            <a:avLst>
              <a:gd name="adj" fmla="val 12175"/>
            </a:avLst>
          </a:prstGeom>
          <a:solidFill>
            <a:srgbClr val="F0D4F7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30" y="5929908"/>
            <a:ext cx="198631" cy="1589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4606" y="5916613"/>
            <a:ext cx="10729644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Low-priority tickets take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spc="-25" kern="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6.8× longer</a:t>
            </a:r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resolve than high-priority — investigate triage rules.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78247"/>
            <a:ext cx="6223638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spc="-6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Satisfaction by Channel &amp; Type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5269971" y="2034580"/>
            <a:ext cx="3002284" cy="61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50" spc="-9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4.2</a:t>
            </a: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5269971" y="2876649"/>
            <a:ext cx="300228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Channel Score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269971" y="3256855"/>
            <a:ext cx="300228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— highest satisfaction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91325" y="2034580"/>
            <a:ext cx="3002284" cy="61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50" spc="-9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2.8</a:t>
            </a:r>
            <a:endParaRPr lang="en-US" sz="4850" dirty="0"/>
          </a:p>
        </p:txBody>
      </p:sp>
      <p:sp>
        <p:nvSpPr>
          <p:cNvPr id="8" name="Text 5"/>
          <p:cNvSpPr/>
          <p:nvPr/>
        </p:nvSpPr>
        <p:spPr>
          <a:xfrm>
            <a:off x="8491325" y="2876649"/>
            <a:ext cx="300228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Lowest Channel Score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91325" y="3256855"/>
            <a:ext cx="300228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Chat — needs attention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80648" y="3990777"/>
            <a:ext cx="3002284" cy="61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850" spc="-9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3.5</a:t>
            </a:r>
            <a:endParaRPr lang="en-US" sz="4850" dirty="0"/>
          </a:p>
        </p:txBody>
      </p:sp>
      <p:sp>
        <p:nvSpPr>
          <p:cNvPr id="11" name="Text 8"/>
          <p:cNvSpPr/>
          <p:nvPr/>
        </p:nvSpPr>
        <p:spPr>
          <a:xfrm>
            <a:off x="6880648" y="4832846"/>
            <a:ext cx="300228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Overall Avg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80648" y="5213052"/>
            <a:ext cx="300228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all channels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69971" y="5700018"/>
            <a:ext cx="6223638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Chat has the highest volume but the </a:t>
            </a:r>
            <a:pPr algn="l" indent="0" marL="0">
              <a:lnSpc>
                <a:spcPct val="129000"/>
              </a:lnSpc>
              <a:buNone/>
            </a:pPr>
            <a:r>
              <a:rPr lang="en-US" sz="1450" b="1" spc="-29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lowest satisfaction</a:t>
            </a:r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 critical gap to close.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Unresolved Tickets: Where to Focus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2641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455194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Backlog Risk Concentration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651647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Products A and B account for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spc="-1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~45%</a:t>
            </a:r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all unresolved tickets. These require immediate escalation and dedicated resolution sprints.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98086" y="6361013"/>
            <a:ext cx="5372859" cy="508298"/>
          </a:xfrm>
          <a:prstGeom prst="roundRect">
            <a:avLst>
              <a:gd name="adj" fmla="val 8241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148" y="6467078"/>
            <a:ext cx="51607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148" y="6643588"/>
            <a:ext cx="516073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98 open/pending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120751" y="6361013"/>
            <a:ext cx="5372859" cy="508298"/>
          </a:xfrm>
          <a:prstGeom prst="roundRect">
            <a:avLst>
              <a:gd name="adj" fmla="val 8241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26813" y="6467078"/>
            <a:ext cx="51607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 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26813" y="6643588"/>
            <a:ext cx="516073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84 open/pending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3271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High-Volume + Low Satisfaction: Critical Combinations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31011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228520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Reading the Heatmap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777927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Darker cells = more tickets.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Product B + Technical Issues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the highest-volume, lowest-satisfaction combination — the #1 root-cause target.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345476" y="3959820"/>
            <a:ext cx="5154484" cy="1096963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900" y="4250432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3656" y="4189115"/>
            <a:ext cx="43068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 Product B technical root-cause investigation immediately.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1082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Recommended Dashboard Architecture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225451"/>
            <a:ext cx="10795524" cy="4735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08362" y="4664537"/>
            <a:ext cx="2199465" cy="274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Executive KPI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293293" y="5022413"/>
            <a:ext cx="2429603" cy="40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1450" spc="-3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Ticket trends, CSAT, SLA breaches, open count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584212" y="1712747"/>
            <a:ext cx="2199465" cy="274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Diagnostic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69143" y="2070623"/>
            <a:ext cx="2429603" cy="40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1450" spc="-3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 split, channel KPIs, RT by priority, product issues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8086" y="6087368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chart maps directly to a business question. Build the KPI page first for leadership, then the diagnostic page for analysts.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92333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Takeaways &amp; Next Steps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4780" y="1815356"/>
            <a:ext cx="299137" cy="2991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18151" y="1809155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Escalate Products A &amp; B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918151" y="2222103"/>
            <a:ext cx="55754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unresolved backlog — assign dedicated resolution teams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4780" y="2946450"/>
            <a:ext cx="299137" cy="2991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18151" y="2940248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Fix Live Chat Experience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918151" y="3353197"/>
            <a:ext cx="55754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volume, lowest satisfaction — audit scripts and training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4780" y="4077543"/>
            <a:ext cx="299137" cy="29914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18151" y="4071342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Investigate Product B Technical Issues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918151" y="4484291"/>
            <a:ext cx="55754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volume + low satisfaction — likely systemic product defect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44780" y="5208637"/>
            <a:ext cx="299137" cy="2991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18151" y="5202436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Monitor Emerging Categories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918151" y="5615384"/>
            <a:ext cx="55754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MoM growth to catch new issues before they scale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2026-09-22T15:04:22Z</dcterms:created>
  <dcterms:modified xsi:type="dcterms:W3CDTF">2026-09-22T15:04:22Z</dcterms:modified>
</cp:coreProperties>
</file>